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41" r:id="rId1"/>
  </p:sldMasterIdLst>
  <p:sldIdLst>
    <p:sldId id="269" r:id="rId2"/>
    <p:sldId id="267" r:id="rId3"/>
    <p:sldId id="264" r:id="rId4"/>
    <p:sldId id="265" r:id="rId5"/>
    <p:sldId id="26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E1C4"/>
    <a:srgbClr val="DD8587"/>
    <a:srgbClr val="A1DDE2"/>
    <a:srgbClr val="0094A6"/>
    <a:srgbClr val="66CCFF"/>
    <a:srgbClr val="9966FF"/>
    <a:srgbClr val="D6B5E3"/>
    <a:srgbClr val="9999FF"/>
    <a:srgbClr val="0A3746"/>
    <a:srgbClr val="0D3A4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 /><Relationship Id="rId3" Type="http://schemas.openxmlformats.org/officeDocument/2006/relationships/slide" Target="slides/slide2.xml" /><Relationship Id="rId7" Type="http://schemas.openxmlformats.org/officeDocument/2006/relationships/presProps" Target="presProp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5" Type="http://schemas.openxmlformats.org/officeDocument/2006/relationships/slide" Target="slides/slide4.xml" /><Relationship Id="rId10" Type="http://schemas.openxmlformats.org/officeDocument/2006/relationships/tableStyles" Target="tableStyles.xml" /><Relationship Id="rId4" Type="http://schemas.openxmlformats.org/officeDocument/2006/relationships/slide" Target="slides/slide3.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8E69F56-3FBE-4EC3-9B36-2DA752F4A438}"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2553036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8E69F56-3FBE-4EC3-9B36-2DA752F4A438}"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12396251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D8E69F56-3FBE-4EC3-9B36-2DA752F4A438}"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58900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8E69F56-3FBE-4EC3-9B36-2DA752F4A438}"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1972670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8E69F56-3FBE-4EC3-9B36-2DA752F4A438}" type="datetimeFigureOut">
              <a:rPr lang="en-IN" smtClean="0"/>
              <a:t>02-04-2026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9300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8E69F56-3FBE-4EC3-9B36-2DA752F4A438}" type="datetimeFigureOut">
              <a:rPr lang="en-IN" smtClean="0"/>
              <a:t>02-04-2026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36006115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8E69F56-3FBE-4EC3-9B36-2DA752F4A438}" type="datetimeFigureOut">
              <a:rPr lang="en-IN" smtClean="0"/>
              <a:t>02-04-2026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4255907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8E69F56-3FBE-4EC3-9B36-2DA752F4A438}"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3155161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8E69F56-3FBE-4EC3-9B36-2DA752F4A438}" type="datetimeFigureOut">
              <a:rPr lang="en-IN" smtClean="0"/>
              <a:t>02-04-2026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2010100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8E69F56-3FBE-4EC3-9B36-2DA752F4A438}"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17234146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8E69F56-3FBE-4EC3-9B36-2DA752F4A438}" type="datetimeFigureOut">
              <a:rPr lang="en-IN" smtClean="0"/>
              <a:t>02-04-2026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A85770-AF86-4A1A-A470-C7A407EBABAC}" type="slidenum">
              <a:rPr lang="en-IN" smtClean="0"/>
              <a:t>‹#›</a:t>
            </a:fld>
            <a:endParaRPr lang="en-IN"/>
          </a:p>
        </p:txBody>
      </p:sp>
    </p:spTree>
    <p:extLst>
      <p:ext uri="{BB962C8B-B14F-4D97-AF65-F5344CB8AC3E}">
        <p14:creationId xmlns:p14="http://schemas.microsoft.com/office/powerpoint/2010/main" val="21956026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E69F56-3FBE-4EC3-9B36-2DA752F4A438}" type="datetimeFigureOut">
              <a:rPr lang="en-IN" smtClean="0"/>
              <a:t>02-04-2026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A85770-AF86-4A1A-A470-C7A407EBABAC}" type="slidenum">
              <a:rPr lang="en-IN" smtClean="0"/>
              <a:t>‹#›</a:t>
            </a:fld>
            <a:endParaRPr lang="en-IN"/>
          </a:p>
        </p:txBody>
      </p:sp>
    </p:spTree>
    <p:extLst>
      <p:ext uri="{BB962C8B-B14F-4D97-AF65-F5344CB8AC3E}">
        <p14:creationId xmlns:p14="http://schemas.microsoft.com/office/powerpoint/2010/main" val="4173065619"/>
      </p:ext>
    </p:extLst>
  </p:cSld>
  <p:clrMap bg1="lt1" tx1="dk1" bg2="lt2" tx2="dk2" accent1="accent1" accent2="accent2" accent3="accent3" accent4="accent4" accent5="accent5" accent6="accent6" hlink="hlink" folHlink="folHlink"/>
  <p:sldLayoutIdLst>
    <p:sldLayoutId id="2147483942" r:id="rId1"/>
    <p:sldLayoutId id="2147483943" r:id="rId2"/>
    <p:sldLayoutId id="2147483944" r:id="rId3"/>
    <p:sldLayoutId id="2147483945" r:id="rId4"/>
    <p:sldLayoutId id="2147483946" r:id="rId5"/>
    <p:sldLayoutId id="2147483947" r:id="rId6"/>
    <p:sldLayoutId id="2147483948" r:id="rId7"/>
    <p:sldLayoutId id="2147483949" r:id="rId8"/>
    <p:sldLayoutId id="2147483950" r:id="rId9"/>
    <p:sldLayoutId id="2147483951" r:id="rId10"/>
    <p:sldLayoutId id="21474839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3" Type="http://schemas.microsoft.com/office/2007/relationships/hdphoto" Target="../media/hdphoto1.wdp"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png" /><Relationship Id="rId1" Type="http://schemas.openxmlformats.org/officeDocument/2006/relationships/slideLayout" Target="../slideLayouts/slideLayout7.xml" /><Relationship Id="rId5" Type="http://schemas.openxmlformats.org/officeDocument/2006/relationships/image" Target="../media/image5.png" /><Relationship Id="rId4" Type="http://schemas.microsoft.com/office/2007/relationships/hdphoto" Target="../media/hdphoto2.wdp"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s digital voting secure enough for national elections? | Kaspersky  official blo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8554" y="0"/>
            <a:ext cx="577344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Half Frame 1"/>
          <p:cNvSpPr/>
          <p:nvPr/>
        </p:nvSpPr>
        <p:spPr>
          <a:xfrm rot="10800000">
            <a:off x="3416300" y="5238750"/>
            <a:ext cx="3008604" cy="1619250"/>
          </a:xfrm>
          <a:prstGeom prst="halfFrame">
            <a:avLst/>
          </a:prstGeom>
          <a:solidFill>
            <a:srgbClr val="329EAA"/>
          </a:solidFill>
          <a:ln>
            <a:solidFill>
              <a:srgbClr val="80CD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5" name="Half Frame 4"/>
          <p:cNvSpPr/>
          <p:nvPr/>
        </p:nvSpPr>
        <p:spPr>
          <a:xfrm>
            <a:off x="19050" y="0"/>
            <a:ext cx="3473450" cy="1619250"/>
          </a:xfrm>
          <a:prstGeom prst="halfFrame">
            <a:avLst/>
          </a:prstGeom>
          <a:solidFill>
            <a:srgbClr val="329EAA"/>
          </a:solidFill>
          <a:ln>
            <a:solidFill>
              <a:srgbClr val="80CD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3" name="Rectangle 2"/>
          <p:cNvSpPr/>
          <p:nvPr/>
        </p:nvSpPr>
        <p:spPr>
          <a:xfrm>
            <a:off x="1301750" y="507215"/>
            <a:ext cx="11163300" cy="707886"/>
          </a:xfrm>
          <a:prstGeom prst="rect">
            <a:avLst/>
          </a:prstGeom>
        </p:spPr>
        <p:txBody>
          <a:bodyPr wrap="square">
            <a:spAutoFit/>
          </a:bodyPr>
          <a:lstStyle/>
          <a:p>
            <a:r>
              <a:rPr lang="en-US" sz="4000" b="1" dirty="0">
                <a:latin typeface="Rockwell Extra Bold" panose="02060903040505020403" pitchFamily="18" charset="0"/>
              </a:rPr>
              <a:t>VOTING  SYSTEM  SIMULATOR </a:t>
            </a:r>
            <a:endParaRPr lang="en-IN" sz="4000" dirty="0">
              <a:latin typeface="Rockwell Extra Bold" panose="02060903040505020403" pitchFamily="18" charset="0"/>
            </a:endParaRPr>
          </a:p>
        </p:txBody>
      </p:sp>
      <p:sp>
        <p:nvSpPr>
          <p:cNvPr id="6" name="Rounded Rectangle 5"/>
          <p:cNvSpPr/>
          <p:nvPr/>
        </p:nvSpPr>
        <p:spPr>
          <a:xfrm>
            <a:off x="19050" y="1554707"/>
            <a:ext cx="2780003" cy="603250"/>
          </a:xfrm>
          <a:prstGeom prst="roundRect">
            <a:avLst>
              <a:gd name="adj" fmla="val 50000"/>
            </a:avLst>
          </a:prstGeom>
          <a:gradFill flip="none" rotWithShape="1">
            <a:gsLst>
              <a:gs pos="0">
                <a:schemeClr val="bg1"/>
              </a:gs>
              <a:gs pos="74000">
                <a:schemeClr val="accent1">
                  <a:lumMod val="75000"/>
                </a:schemeClr>
              </a:gs>
              <a:gs pos="84000">
                <a:schemeClr val="accent1">
                  <a:lumMod val="75000"/>
                </a:schemeClr>
              </a:gs>
              <a:gs pos="100000">
                <a:schemeClr val="accent1">
                  <a:lumMod val="75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ln w="0"/>
                <a:solidFill>
                  <a:schemeClr val="tx1"/>
                </a:solidFill>
                <a:effectLst>
                  <a:outerShdw blurRad="38100" dist="19050" dir="2700000" algn="tl" rotWithShape="0">
                    <a:schemeClr val="dk1">
                      <a:alpha val="40000"/>
                    </a:schemeClr>
                  </a:outerShdw>
                </a:effectLst>
                <a:latin typeface="Bodoni MT Black" panose="02070A03080606020203" pitchFamily="18" charset="0"/>
              </a:rPr>
              <a:t>   STUDENT NAMES</a:t>
            </a:r>
            <a:endParaRPr lang="en-IN" b="1">
              <a:ln w="0"/>
              <a:solidFill>
                <a:schemeClr val="tx1"/>
              </a:solidFill>
              <a:effectLst>
                <a:outerShdw blurRad="38100" dist="19050" dir="2700000" algn="tl" rotWithShape="0">
                  <a:schemeClr val="dk1">
                    <a:alpha val="40000"/>
                  </a:schemeClr>
                </a:outerShdw>
              </a:effectLst>
              <a:latin typeface="Bodoni MT Black" panose="02070A03080606020203" pitchFamily="18" charset="0"/>
            </a:endParaRPr>
          </a:p>
        </p:txBody>
      </p:sp>
      <p:sp>
        <p:nvSpPr>
          <p:cNvPr id="7" name="Rectangle 6"/>
          <p:cNvSpPr/>
          <p:nvPr/>
        </p:nvSpPr>
        <p:spPr>
          <a:xfrm>
            <a:off x="128945" y="2237355"/>
            <a:ext cx="4837403" cy="445195"/>
          </a:xfrm>
          <a:prstGeom prst="rect">
            <a:avLst/>
          </a:prstGeom>
          <a:solidFill>
            <a:srgbClr val="AAC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mj-lt"/>
              <a:buAutoNum type="arabicPeriod"/>
            </a:pPr>
            <a:r>
              <a:rPr lang="en-US">
                <a:solidFill>
                  <a:schemeClr val="tx1"/>
                </a:solidFill>
                <a:latin typeface="Vinka Duscha" pitchFamily="2" charset="0"/>
              </a:rPr>
              <a:t>25A31A05CU   -  G.K.A.SIDDHESWARA RAO</a:t>
            </a:r>
          </a:p>
        </p:txBody>
      </p:sp>
      <p:sp>
        <p:nvSpPr>
          <p:cNvPr id="9" name="Rectangle 8"/>
          <p:cNvSpPr/>
          <p:nvPr/>
        </p:nvSpPr>
        <p:spPr>
          <a:xfrm>
            <a:off x="128945" y="2749046"/>
            <a:ext cx="4837403" cy="445195"/>
          </a:xfrm>
          <a:prstGeom prst="rect">
            <a:avLst/>
          </a:prstGeom>
          <a:solidFill>
            <a:srgbClr val="AAC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Vinka Duscha" pitchFamily="2" charset="0"/>
              </a:rPr>
              <a:t>2.      25A31A05CV   - I.D.SANTOSH</a:t>
            </a:r>
          </a:p>
        </p:txBody>
      </p:sp>
      <p:sp>
        <p:nvSpPr>
          <p:cNvPr id="10" name="Rectangle 9"/>
          <p:cNvSpPr/>
          <p:nvPr/>
        </p:nvSpPr>
        <p:spPr>
          <a:xfrm>
            <a:off x="128944" y="3260737"/>
            <a:ext cx="4837403" cy="445195"/>
          </a:xfrm>
          <a:prstGeom prst="rect">
            <a:avLst/>
          </a:prstGeom>
          <a:solidFill>
            <a:srgbClr val="AAC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solidFill>
                  <a:schemeClr val="tx1"/>
                </a:solidFill>
                <a:latin typeface="Vinka Duscha" pitchFamily="2" charset="0"/>
              </a:rPr>
              <a:t>3.      25A31A05DF   - M.SRIMANNARAYANA </a:t>
            </a:r>
          </a:p>
        </p:txBody>
      </p:sp>
      <p:sp>
        <p:nvSpPr>
          <p:cNvPr id="11" name="Rectangle 10"/>
          <p:cNvSpPr/>
          <p:nvPr/>
        </p:nvSpPr>
        <p:spPr>
          <a:xfrm>
            <a:off x="128944" y="3741687"/>
            <a:ext cx="4837403" cy="445195"/>
          </a:xfrm>
          <a:prstGeom prst="rect">
            <a:avLst/>
          </a:prstGeom>
          <a:solidFill>
            <a:srgbClr val="AAC7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solidFill>
                  <a:schemeClr val="tx1"/>
                </a:solidFill>
                <a:latin typeface="Vinka Duscha" pitchFamily="2" charset="0"/>
              </a:rPr>
              <a:t>4.       25A31A05CN -  V.PAVITRA</a:t>
            </a:r>
          </a:p>
        </p:txBody>
      </p:sp>
      <p:sp>
        <p:nvSpPr>
          <p:cNvPr id="12" name="Rounded Rectangle 11"/>
          <p:cNvSpPr/>
          <p:nvPr/>
        </p:nvSpPr>
        <p:spPr>
          <a:xfrm>
            <a:off x="84934" y="4292227"/>
            <a:ext cx="2780003" cy="603250"/>
          </a:xfrm>
          <a:prstGeom prst="roundRect">
            <a:avLst>
              <a:gd name="adj" fmla="val 50000"/>
            </a:avLst>
          </a:prstGeom>
          <a:gradFill flip="none" rotWithShape="1">
            <a:gsLst>
              <a:gs pos="0">
                <a:schemeClr val="accent1">
                  <a:lumMod val="5000"/>
                  <a:lumOff val="95000"/>
                </a:schemeClr>
              </a:gs>
              <a:gs pos="74000">
                <a:srgbClr val="92D050"/>
              </a:gs>
              <a:gs pos="83000">
                <a:srgbClr val="92D050"/>
              </a:gs>
              <a:gs pos="100000">
                <a:srgbClr val="92D050"/>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a:ln w="0"/>
                <a:solidFill>
                  <a:schemeClr val="tx1"/>
                </a:solidFill>
                <a:effectLst>
                  <a:outerShdw blurRad="38100" dist="19050" dir="2700000" algn="tl" rotWithShape="0">
                    <a:schemeClr val="dk1">
                      <a:alpha val="40000"/>
                    </a:schemeClr>
                  </a:outerShdw>
                </a:effectLst>
                <a:latin typeface="Bodoni MT Black" panose="02070A03080606020203" pitchFamily="18" charset="0"/>
              </a:rPr>
              <a:t>     BRANCH  &amp;            YEAR</a:t>
            </a:r>
            <a:endParaRPr lang="en-IN" sz="2000" b="1">
              <a:ln w="0"/>
              <a:solidFill>
                <a:schemeClr val="tx1"/>
              </a:solidFill>
              <a:effectLst>
                <a:outerShdw blurRad="38100" dist="19050" dir="2700000" algn="tl" rotWithShape="0">
                  <a:schemeClr val="dk1">
                    <a:alpha val="40000"/>
                  </a:schemeClr>
                </a:outerShdw>
              </a:effectLst>
              <a:latin typeface="Bodoni MT Black" panose="02070A03080606020203" pitchFamily="18" charset="0"/>
            </a:endParaRPr>
          </a:p>
        </p:txBody>
      </p:sp>
      <p:sp>
        <p:nvSpPr>
          <p:cNvPr id="13" name="Rectangle 12"/>
          <p:cNvSpPr/>
          <p:nvPr/>
        </p:nvSpPr>
        <p:spPr>
          <a:xfrm>
            <a:off x="84934" y="4954344"/>
            <a:ext cx="4837403" cy="445195"/>
          </a:xfrm>
          <a:prstGeom prst="rect">
            <a:avLst/>
          </a:prstGeom>
          <a:solidFill>
            <a:srgbClr val="CBE8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3200">
                <a:solidFill>
                  <a:schemeClr val="tx1"/>
                </a:solidFill>
                <a:latin typeface="Vinka Duscha" pitchFamily="2" charset="0"/>
                <a:cs typeface="Times New Roman" panose="02020603050405020304" pitchFamily="18" charset="0"/>
              </a:rPr>
              <a:t>    Ⅰ CSE-C</a:t>
            </a:r>
            <a:endParaRPr lang="en-US" sz="3200">
              <a:solidFill>
                <a:schemeClr val="tx1"/>
              </a:solidFill>
              <a:latin typeface="Vinka Duscha" pitchFamily="2" charset="0"/>
            </a:endParaRPr>
          </a:p>
        </p:txBody>
      </p:sp>
      <p:sp>
        <p:nvSpPr>
          <p:cNvPr id="14" name="Rounded Rectangle 13"/>
          <p:cNvSpPr/>
          <p:nvPr/>
        </p:nvSpPr>
        <p:spPr>
          <a:xfrm>
            <a:off x="84933" y="5471992"/>
            <a:ext cx="2780003" cy="603250"/>
          </a:xfrm>
          <a:prstGeom prst="roundRect">
            <a:avLst>
              <a:gd name="adj" fmla="val 50000"/>
            </a:avLst>
          </a:prstGeom>
          <a:gradFill>
            <a:gsLst>
              <a:gs pos="0">
                <a:schemeClr val="bg1"/>
              </a:gs>
              <a:gs pos="74000">
                <a:srgbClr val="CCCC00"/>
              </a:gs>
              <a:gs pos="85000">
                <a:srgbClr val="CCCC00"/>
              </a:gs>
              <a:gs pos="100000">
                <a:srgbClr val="CCCC00"/>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ln w="0"/>
                <a:solidFill>
                  <a:schemeClr val="tx1"/>
                </a:solidFill>
                <a:effectLst>
                  <a:outerShdw blurRad="38100" dist="19050" dir="2700000" algn="tl" rotWithShape="0">
                    <a:schemeClr val="dk1">
                      <a:alpha val="40000"/>
                    </a:schemeClr>
                  </a:outerShdw>
                </a:effectLst>
                <a:latin typeface="Bodoni MT Black" panose="02070A03080606020203" pitchFamily="18" charset="0"/>
              </a:rPr>
              <a:t>   COLLEGE NAME </a:t>
            </a:r>
            <a:endParaRPr lang="en-IN" b="1">
              <a:ln w="0"/>
              <a:solidFill>
                <a:schemeClr val="tx1"/>
              </a:solidFill>
              <a:effectLst>
                <a:outerShdw blurRad="38100" dist="19050" dir="2700000" algn="tl" rotWithShape="0">
                  <a:schemeClr val="dk1">
                    <a:alpha val="40000"/>
                  </a:schemeClr>
                </a:outerShdw>
              </a:effectLst>
              <a:latin typeface="Bodoni MT Black" panose="02070A03080606020203" pitchFamily="18" charset="0"/>
            </a:endParaRPr>
          </a:p>
        </p:txBody>
      </p:sp>
      <p:sp>
        <p:nvSpPr>
          <p:cNvPr id="15" name="Rectangle 14"/>
          <p:cNvSpPr/>
          <p:nvPr/>
        </p:nvSpPr>
        <p:spPr>
          <a:xfrm>
            <a:off x="84933" y="6132906"/>
            <a:ext cx="3259717" cy="605293"/>
          </a:xfrm>
          <a:prstGeom prst="rect">
            <a:avLst/>
          </a:prstGeom>
          <a:solidFill>
            <a:srgbClr val="E6E6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solidFill>
                  <a:schemeClr val="tx1"/>
                </a:solidFill>
                <a:latin typeface="Vinka Duscha" pitchFamily="2" charset="0"/>
                <a:cs typeface="Times New Roman" panose="02020603050405020304" pitchFamily="18" charset="0"/>
              </a:rPr>
              <a:t>PRAGATI ENGINEERING COLLEGE (A),SURAMPALEM</a:t>
            </a:r>
            <a:endParaRPr lang="en-US">
              <a:solidFill>
                <a:schemeClr val="tx1"/>
              </a:solidFill>
              <a:latin typeface="Vinka Duscha" pitchFamily="2" charset="0"/>
            </a:endParaRPr>
          </a:p>
        </p:txBody>
      </p:sp>
      <p:sp>
        <p:nvSpPr>
          <p:cNvPr id="8" name="Oval 7"/>
          <p:cNvSpPr/>
          <p:nvPr/>
        </p:nvSpPr>
        <p:spPr>
          <a:xfrm>
            <a:off x="128943" y="1727919"/>
            <a:ext cx="214588" cy="181869"/>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p:nvSpPr>
        <p:spPr>
          <a:xfrm>
            <a:off x="236237" y="4502917"/>
            <a:ext cx="214588" cy="181869"/>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Oval 17"/>
          <p:cNvSpPr/>
          <p:nvPr/>
        </p:nvSpPr>
        <p:spPr>
          <a:xfrm>
            <a:off x="200873" y="5682682"/>
            <a:ext cx="214588" cy="181869"/>
          </a:xfrm>
          <a:prstGeom prst="ellipse">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7901492"/>
      </p:ext>
    </p:extLst>
  </p:cSld>
  <p:clrMapOvr>
    <a:masterClrMapping/>
  </p:clrMapOvr>
  <p:transition spd="slow">
    <p:wheel spokes="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BEBA8EAE-BF5A-486C-A8C5-ECC9F3942E4B}">
                <a14:imgProps xmlns:a14="http://schemas.microsoft.com/office/drawing/2010/main">
                  <a14:imgLayer r:embed="rId3">
                    <a14:imgEffect>
                      <a14:colorTemperature colorTemp="5618"/>
                    </a14:imgEffect>
                    <a14:imgEffect>
                      <a14:saturation sat="90000"/>
                    </a14:imgEffect>
                  </a14:imgLayer>
                </a14:imgProps>
              </a:ext>
            </a:extLst>
          </a:blip>
          <a:stretch>
            <a:fillRect/>
          </a:stretch>
        </p:blipFill>
        <p:spPr>
          <a:xfrm>
            <a:off x="-133034" y="0"/>
            <a:ext cx="12481644" cy="7364598"/>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1817925663"/>
              </p:ext>
            </p:extLst>
          </p:nvPr>
        </p:nvGraphicFramePr>
        <p:xfrm>
          <a:off x="1115332" y="4538705"/>
          <a:ext cx="8808774" cy="2225040"/>
        </p:xfrm>
        <a:graphic>
          <a:graphicData uri="http://schemas.openxmlformats.org/drawingml/2006/table">
            <a:tbl>
              <a:tblPr firstRow="1" bandRow="1">
                <a:tableStyleId>{5C22544A-7EE6-4342-B048-85BDC9FD1C3A}</a:tableStyleId>
              </a:tblPr>
              <a:tblGrid>
                <a:gridCol w="1468129">
                  <a:extLst>
                    <a:ext uri="{9D8B030D-6E8A-4147-A177-3AD203B41FA5}">
                      <a16:colId xmlns:a16="http://schemas.microsoft.com/office/drawing/2014/main" val="1341894436"/>
                    </a:ext>
                  </a:extLst>
                </a:gridCol>
                <a:gridCol w="1468129">
                  <a:extLst>
                    <a:ext uri="{9D8B030D-6E8A-4147-A177-3AD203B41FA5}">
                      <a16:colId xmlns:a16="http://schemas.microsoft.com/office/drawing/2014/main" val="2867502788"/>
                    </a:ext>
                  </a:extLst>
                </a:gridCol>
                <a:gridCol w="1468129">
                  <a:extLst>
                    <a:ext uri="{9D8B030D-6E8A-4147-A177-3AD203B41FA5}">
                      <a16:colId xmlns:a16="http://schemas.microsoft.com/office/drawing/2014/main" val="700648036"/>
                    </a:ext>
                  </a:extLst>
                </a:gridCol>
                <a:gridCol w="1468129">
                  <a:extLst>
                    <a:ext uri="{9D8B030D-6E8A-4147-A177-3AD203B41FA5}">
                      <a16:colId xmlns:a16="http://schemas.microsoft.com/office/drawing/2014/main" val="1394056884"/>
                    </a:ext>
                  </a:extLst>
                </a:gridCol>
                <a:gridCol w="1468129">
                  <a:extLst>
                    <a:ext uri="{9D8B030D-6E8A-4147-A177-3AD203B41FA5}">
                      <a16:colId xmlns:a16="http://schemas.microsoft.com/office/drawing/2014/main" val="1719806179"/>
                    </a:ext>
                  </a:extLst>
                </a:gridCol>
                <a:gridCol w="1468129">
                  <a:extLst>
                    <a:ext uri="{9D8B030D-6E8A-4147-A177-3AD203B41FA5}">
                      <a16:colId xmlns:a16="http://schemas.microsoft.com/office/drawing/2014/main" val="2977736746"/>
                    </a:ext>
                  </a:extLst>
                </a:gridCol>
              </a:tblGrid>
              <a:tr h="21558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a:ln>
                            <a:solidFill>
                              <a:schemeClr val="bg1"/>
                            </a:solidFill>
                          </a:ln>
                          <a:solidFill>
                            <a:schemeClr val="bg1"/>
                          </a:solidFill>
                          <a:latin typeface="Lucida Fax" panose="02060602050505020204" pitchFamily="18" charset="0"/>
                        </a:rPr>
                        <a:t>To create a simple and secure voting system </a:t>
                      </a:r>
                    </a:p>
                    <a:p>
                      <a:pPr algn="ctr"/>
                      <a:endParaRPr lang="en-IN" sz="2000">
                        <a:ln>
                          <a:solidFill>
                            <a:schemeClr val="bg1"/>
                          </a:solidFill>
                        </a:ln>
                        <a:solidFill>
                          <a:schemeClr val="bg1"/>
                        </a:solidFill>
                        <a:latin typeface="Lucida Fax" panose="02060602050505020204" pitchFamily="18" charset="0"/>
                      </a:endParaRPr>
                    </a:p>
                  </a:txBody>
                  <a:tcPr anchor="ctr">
                    <a:lnL w="12700" cmpd="sng">
                      <a:noFill/>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000">
                          <a:ln>
                            <a:solidFill>
                              <a:schemeClr val="bg1"/>
                            </a:solidFill>
                          </a:ln>
                          <a:solidFill>
                            <a:schemeClr val="bg1"/>
                          </a:solidFill>
                          <a:latin typeface="Lucida Fax" panose="02060602050505020204" pitchFamily="18" charset="0"/>
                        </a:rPr>
                        <a:t>To reduce manual errors in elections </a:t>
                      </a:r>
                      <a:endParaRPr lang="en-IN" sz="2000">
                        <a:ln>
                          <a:solidFill>
                            <a:schemeClr val="bg1"/>
                          </a:solidFill>
                        </a:ln>
                        <a:solidFill>
                          <a:schemeClr val="bg1"/>
                        </a:solidFill>
                        <a:latin typeface="Lucida Fax" panose="02060602050505020204" pitchFamily="18" charset="0"/>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a:ln>
                            <a:solidFill>
                              <a:schemeClr val="bg1"/>
                            </a:solidFill>
                          </a:ln>
                          <a:solidFill>
                            <a:schemeClr val="bg1"/>
                          </a:solidFill>
                          <a:latin typeface="Lucida Fax" panose="02060602050505020204" pitchFamily="18" charset="0"/>
                        </a:rPr>
                        <a:t>To ensure fast and accurate vote counting  </a:t>
                      </a:r>
                    </a:p>
                    <a:p>
                      <a:pPr algn="ctr"/>
                      <a:endParaRPr lang="en-IN" sz="2000">
                        <a:ln>
                          <a:solidFill>
                            <a:schemeClr val="bg1"/>
                          </a:solidFill>
                        </a:ln>
                        <a:solidFill>
                          <a:schemeClr val="bg1"/>
                        </a:solidFill>
                        <a:latin typeface="Lucida Fax" panose="02060602050505020204" pitchFamily="18" charset="0"/>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000">
                          <a:ln>
                            <a:solidFill>
                              <a:schemeClr val="bg1"/>
                            </a:solidFill>
                          </a:ln>
                          <a:solidFill>
                            <a:schemeClr val="bg1"/>
                          </a:solidFill>
                          <a:latin typeface="Lucida Fax" panose="02060602050505020204" pitchFamily="18" charset="0"/>
                        </a:rPr>
                        <a:t>To maintain transparency in the voting process </a:t>
                      </a:r>
                      <a:endParaRPr lang="en-IN" sz="2000">
                        <a:ln>
                          <a:solidFill>
                            <a:schemeClr val="bg1"/>
                          </a:solidFill>
                        </a:ln>
                        <a:solidFill>
                          <a:schemeClr val="bg1"/>
                        </a:solidFill>
                        <a:latin typeface="Lucida Fax" panose="02060602050505020204" pitchFamily="18" charset="0"/>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000">
                          <a:ln>
                            <a:solidFill>
                              <a:schemeClr val="bg1"/>
                            </a:solidFill>
                          </a:ln>
                          <a:solidFill>
                            <a:schemeClr val="bg1"/>
                          </a:solidFill>
                          <a:latin typeface="Lucida Fax" panose="02060602050505020204" pitchFamily="18" charset="0"/>
                        </a:rPr>
                        <a:t>To provide an easy-to-use interface for users</a:t>
                      </a:r>
                      <a:endParaRPr lang="en-IN" sz="2000">
                        <a:ln>
                          <a:solidFill>
                            <a:schemeClr val="bg1"/>
                          </a:solidFill>
                        </a:ln>
                        <a:solidFill>
                          <a:schemeClr val="bg1"/>
                        </a:solidFill>
                        <a:latin typeface="Lucida Fax" panose="02060602050505020204" pitchFamily="18" charset="0"/>
                      </a:endParaRPr>
                    </a:p>
                  </a:txBody>
                  <a:tcPr anchor="ct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000">
                          <a:ln>
                            <a:solidFill>
                              <a:schemeClr val="bg1"/>
                            </a:solidFill>
                          </a:ln>
                          <a:solidFill>
                            <a:schemeClr val="bg1"/>
                          </a:solidFill>
                          <a:latin typeface="Lucida Fax" panose="02060602050505020204" pitchFamily="18" charset="0"/>
                        </a:rPr>
                        <a:t>To simulate real-world election systems digitally</a:t>
                      </a:r>
                      <a:endParaRPr lang="en-IN" sz="2000">
                        <a:ln>
                          <a:solidFill>
                            <a:schemeClr val="bg1"/>
                          </a:solidFill>
                        </a:ln>
                        <a:solidFill>
                          <a:schemeClr val="bg1"/>
                        </a:solidFill>
                        <a:latin typeface="Lucida Fax" panose="02060602050505020204" pitchFamily="18" charset="0"/>
                      </a:endParaRPr>
                    </a:p>
                  </a:txBody>
                  <a:tcPr anchor="ctr">
                    <a:lnL w="28575" cap="flat" cmpd="sng" algn="ctr">
                      <a:solidFill>
                        <a:schemeClr val="bg1"/>
                      </a:solid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184418413"/>
                  </a:ext>
                </a:extLst>
              </a:tr>
            </a:tbl>
          </a:graphicData>
        </a:graphic>
      </p:graphicFrame>
      <p:sp>
        <p:nvSpPr>
          <p:cNvPr id="5" name="Rectangle 4"/>
          <p:cNvSpPr/>
          <p:nvPr/>
        </p:nvSpPr>
        <p:spPr>
          <a:xfrm>
            <a:off x="82550" y="310035"/>
            <a:ext cx="11469293" cy="1015663"/>
          </a:xfrm>
          <a:prstGeom prst="rect">
            <a:avLst/>
          </a:prstGeom>
        </p:spPr>
        <p:txBody>
          <a:bodyPr wrap="square">
            <a:spAutoFit/>
          </a:bodyPr>
          <a:lstStyle/>
          <a:p>
            <a:pPr algn="ctr"/>
            <a:r>
              <a:rPr lang="en-US" sz="6000" b="1">
                <a:ln>
                  <a:solidFill>
                    <a:schemeClr val="bg1"/>
                  </a:solidFill>
                </a:ln>
                <a:solidFill>
                  <a:schemeClr val="bg1"/>
                </a:solidFill>
                <a:latin typeface="Lucida Calligraphy" panose="03010101010101010101" pitchFamily="66" charset="0"/>
                <a:ea typeface="Artifakt Element Heavy" panose="020B0B03050000020004" pitchFamily="34" charset="0"/>
              </a:rPr>
              <a:t>Objective of the Project </a:t>
            </a:r>
            <a:endParaRPr lang="en-IN" sz="6000">
              <a:ln>
                <a:solidFill>
                  <a:schemeClr val="bg1"/>
                </a:solidFill>
              </a:ln>
              <a:solidFill>
                <a:schemeClr val="bg1"/>
              </a:solidFill>
              <a:latin typeface="Lucida Calligraphy" panose="03010101010101010101" pitchFamily="66" charset="0"/>
              <a:ea typeface="Artifakt Element Heavy" panose="020B0B03050000020004" pitchFamily="34" charset="0"/>
            </a:endParaRPr>
          </a:p>
        </p:txBody>
      </p:sp>
    </p:spTree>
    <p:extLst>
      <p:ext uri="{BB962C8B-B14F-4D97-AF65-F5344CB8AC3E}">
        <p14:creationId xmlns:p14="http://schemas.microsoft.com/office/powerpoint/2010/main" val="1641208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rotWithShape="1">
          <a:blip r:embed="rId2"/>
          <a:srcRect l="-593" t="-145" r="593" b="7770"/>
          <a:stretch/>
        </p:blipFill>
        <p:spPr>
          <a:xfrm>
            <a:off x="-82550" y="0"/>
            <a:ext cx="12249150" cy="6838950"/>
          </a:xfrm>
          <a:prstGeom prst="rect">
            <a:avLst/>
          </a:prstGeom>
        </p:spPr>
      </p:pic>
      <p:pic>
        <p:nvPicPr>
          <p:cNvPr id="53" name="Picture 52"/>
          <p:cNvPicPr>
            <a:picLocks noChangeAspect="1"/>
          </p:cNvPicPr>
          <p:nvPr/>
        </p:nvPicPr>
        <p:blipFill rotWithShape="1">
          <a:blip r:embed="rId3">
            <a:extLst>
              <a:ext uri="{BEBA8EAE-BF5A-486C-A8C5-ECC9F3942E4B}">
                <a14:imgProps xmlns:a14="http://schemas.microsoft.com/office/drawing/2010/main">
                  <a14:imgLayer r:embed="rId4">
                    <a14:imgEffect>
                      <a14:artisticBlur radius="70"/>
                    </a14:imgEffect>
                  </a14:imgLayer>
                </a14:imgProps>
              </a:ext>
            </a:extLst>
          </a:blip>
          <a:srcRect l="-593" t="-145" r="593" b="7770"/>
          <a:stretch/>
        </p:blipFill>
        <p:spPr>
          <a:xfrm>
            <a:off x="590550" y="460717"/>
            <a:ext cx="10458450" cy="6019800"/>
          </a:xfrm>
          <a:prstGeom prst="rect">
            <a:avLst/>
          </a:prstGeom>
          <a:effectLst>
            <a:softEdge rad="101600"/>
          </a:effectLst>
        </p:spPr>
      </p:pic>
      <p:sp>
        <p:nvSpPr>
          <p:cNvPr id="9" name="Rectangle 8"/>
          <p:cNvSpPr/>
          <p:nvPr/>
        </p:nvSpPr>
        <p:spPr>
          <a:xfrm>
            <a:off x="819151" y="822215"/>
            <a:ext cx="10788650" cy="923330"/>
          </a:xfrm>
          <a:prstGeom prst="rect">
            <a:avLst/>
          </a:prstGeom>
        </p:spPr>
        <p:txBody>
          <a:bodyPr wrap="square">
            <a:spAutoFit/>
          </a:bodyPr>
          <a:lstStyle/>
          <a:p>
            <a:r>
              <a:rPr lang="en-US" sz="5400" b="1">
                <a:solidFill>
                  <a:schemeClr val="bg1"/>
                </a:solidFill>
                <a:latin typeface="Eras Bold ITC" panose="020B0907030504020204" pitchFamily="34" charset="0"/>
              </a:rPr>
              <a:t>Limitations of Existing System</a:t>
            </a:r>
            <a:endParaRPr lang="en-IN" sz="5400">
              <a:solidFill>
                <a:schemeClr val="bg1"/>
              </a:solidFill>
              <a:latin typeface="Eras Bold ITC" panose="020B0907030504020204" pitchFamily="34" charset="0"/>
            </a:endParaRPr>
          </a:p>
        </p:txBody>
      </p:sp>
      <p:sp>
        <p:nvSpPr>
          <p:cNvPr id="14" name="Rectangle 13"/>
          <p:cNvSpPr/>
          <p:nvPr/>
        </p:nvSpPr>
        <p:spPr>
          <a:xfrm>
            <a:off x="1376363" y="2862400"/>
            <a:ext cx="1333500" cy="3067050"/>
          </a:xfrm>
          <a:prstGeom prst="rect">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12700">
                <a:solidFill>
                  <a:schemeClr val="tx1"/>
                </a:solidFill>
              </a:ln>
            </a:endParaRPr>
          </a:p>
        </p:txBody>
      </p:sp>
      <p:sp>
        <p:nvSpPr>
          <p:cNvPr id="55" name="Rectangle 54"/>
          <p:cNvSpPr/>
          <p:nvPr/>
        </p:nvSpPr>
        <p:spPr>
          <a:xfrm>
            <a:off x="3052763" y="2862400"/>
            <a:ext cx="1333500" cy="3067050"/>
          </a:xfrm>
          <a:prstGeom prst="rect">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12700">
                <a:solidFill>
                  <a:schemeClr val="tx1"/>
                </a:solidFill>
              </a:ln>
            </a:endParaRPr>
          </a:p>
        </p:txBody>
      </p:sp>
      <p:sp>
        <p:nvSpPr>
          <p:cNvPr id="57" name="Rectangle 56"/>
          <p:cNvSpPr/>
          <p:nvPr/>
        </p:nvSpPr>
        <p:spPr>
          <a:xfrm>
            <a:off x="4795838" y="2915249"/>
            <a:ext cx="1333500" cy="3067050"/>
          </a:xfrm>
          <a:prstGeom prst="rect">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12700">
                <a:solidFill>
                  <a:schemeClr val="tx1"/>
                </a:solidFill>
              </a:ln>
            </a:endParaRPr>
          </a:p>
        </p:txBody>
      </p:sp>
      <p:sp>
        <p:nvSpPr>
          <p:cNvPr id="73" name="Rectangle 72"/>
          <p:cNvSpPr/>
          <p:nvPr/>
        </p:nvSpPr>
        <p:spPr>
          <a:xfrm>
            <a:off x="6480175" y="2907575"/>
            <a:ext cx="1333500" cy="3067050"/>
          </a:xfrm>
          <a:prstGeom prst="rect">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12700">
                <a:solidFill>
                  <a:schemeClr val="tx1"/>
                </a:solidFill>
              </a:ln>
            </a:endParaRPr>
          </a:p>
        </p:txBody>
      </p:sp>
      <p:sp>
        <p:nvSpPr>
          <p:cNvPr id="74" name="Rectangle 73"/>
          <p:cNvSpPr/>
          <p:nvPr/>
        </p:nvSpPr>
        <p:spPr>
          <a:xfrm>
            <a:off x="8223250" y="2952750"/>
            <a:ext cx="1333500" cy="3067050"/>
          </a:xfrm>
          <a:prstGeom prst="rect">
            <a:avLst/>
          </a:prstGeom>
          <a:noFill/>
          <a:ln w="127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w="12700">
                <a:solidFill>
                  <a:schemeClr val="tx1"/>
                </a:solidFill>
              </a:ln>
            </a:endParaRPr>
          </a:p>
        </p:txBody>
      </p:sp>
      <p:sp>
        <p:nvSpPr>
          <p:cNvPr id="23" name="Rectangle 22"/>
          <p:cNvSpPr/>
          <p:nvPr/>
        </p:nvSpPr>
        <p:spPr>
          <a:xfrm>
            <a:off x="1379045" y="3573292"/>
            <a:ext cx="1322881" cy="1631216"/>
          </a:xfrm>
          <a:prstGeom prst="rect">
            <a:avLst/>
          </a:prstGeom>
        </p:spPr>
        <p:txBody>
          <a:bodyPr wrap="square">
            <a:spAutoFit/>
          </a:bodyPr>
          <a:lstStyle/>
          <a:p>
            <a:r>
              <a:rPr lang="en-US" sz="2000">
                <a:solidFill>
                  <a:schemeClr val="bg1"/>
                </a:solidFill>
                <a:latin typeface="Lucida Bright" panose="02040602050505020304" pitchFamily="18" charset="0"/>
                <a:ea typeface="Tahoma" panose="020B0604030504040204" pitchFamily="34" charset="0"/>
                <a:cs typeface="Tahoma" panose="020B0604030504040204" pitchFamily="34" charset="0"/>
              </a:rPr>
              <a:t>Manual voting takes more time </a:t>
            </a:r>
          </a:p>
        </p:txBody>
      </p:sp>
      <p:pic>
        <p:nvPicPr>
          <p:cNvPr id="29" name="Picture 28" descr="Stopwatch Dial Timer · Free vector graphic on Pixabay"/>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739899" y="3041721"/>
            <a:ext cx="513268" cy="531570"/>
          </a:xfrm>
          <a:prstGeom prst="rect">
            <a:avLst/>
          </a:prstGeom>
        </p:spPr>
      </p:pic>
      <p:sp>
        <p:nvSpPr>
          <p:cNvPr id="30" name="Rectangle 29"/>
          <p:cNvSpPr/>
          <p:nvPr/>
        </p:nvSpPr>
        <p:spPr>
          <a:xfrm>
            <a:off x="3140180" y="3587610"/>
            <a:ext cx="1246083" cy="1352690"/>
          </a:xfrm>
          <a:prstGeom prst="rect">
            <a:avLst/>
          </a:prstGeom>
        </p:spPr>
        <p:txBody>
          <a:bodyPr wrap="square">
            <a:spAutoFit/>
          </a:bodyPr>
          <a:lstStyle/>
          <a:p>
            <a:r>
              <a:rPr lang="en-US" sz="2000">
                <a:solidFill>
                  <a:schemeClr val="bg1"/>
                </a:solidFill>
                <a:latin typeface="Lucida Bright" panose="02040602050505020304" pitchFamily="18" charset="0"/>
                <a:ea typeface="Tahoma" panose="020B0604030504040204" pitchFamily="34" charset="0"/>
                <a:cs typeface="Tahoma" panose="020B0604030504040204" pitchFamily="34" charset="0"/>
              </a:rPr>
              <a:t>Risk of invalid duplicate votes </a:t>
            </a:r>
            <a:endParaRPr lang="en-IN" sz="2000">
              <a:solidFill>
                <a:schemeClr val="bg1"/>
              </a:solidFill>
              <a:latin typeface="Lucida Bright" panose="02040602050505020304" pitchFamily="18" charset="0"/>
              <a:ea typeface="Tahoma" panose="020B0604030504040204" pitchFamily="34" charset="0"/>
              <a:cs typeface="Tahoma" panose="020B0604030504040204" pitchFamily="34" charset="0"/>
            </a:endParaRPr>
          </a:p>
        </p:txBody>
      </p:sp>
      <p:sp>
        <p:nvSpPr>
          <p:cNvPr id="31" name="Rectangle 30"/>
          <p:cNvSpPr/>
          <p:nvPr/>
        </p:nvSpPr>
        <p:spPr>
          <a:xfrm flipH="1">
            <a:off x="3214686" y="3122840"/>
            <a:ext cx="1020763" cy="461665"/>
          </a:xfrm>
          <a:prstGeom prst="rect">
            <a:avLst/>
          </a:prstGeom>
        </p:spPr>
        <p:txBody>
          <a:bodyPr wrap="square">
            <a:spAutoFit/>
          </a:bodyPr>
          <a:lstStyle/>
          <a:p>
            <a:pPr algn="ctr"/>
            <a:r>
              <a:rPr lang="en-IN" sz="2400">
                <a:ln>
                  <a:solidFill>
                    <a:srgbClr val="FF0000"/>
                  </a:solidFill>
                </a:ln>
                <a:solidFill>
                  <a:srgbClr val="FF0000"/>
                </a:solidFill>
              </a:rPr>
              <a:t>❌</a:t>
            </a:r>
          </a:p>
        </p:txBody>
      </p:sp>
      <p:sp>
        <p:nvSpPr>
          <p:cNvPr id="32" name="Rectangle 31"/>
          <p:cNvSpPr/>
          <p:nvPr/>
        </p:nvSpPr>
        <p:spPr>
          <a:xfrm>
            <a:off x="4924424" y="3041722"/>
            <a:ext cx="1082675" cy="646331"/>
          </a:xfrm>
          <a:prstGeom prst="rect">
            <a:avLst/>
          </a:prstGeom>
        </p:spPr>
        <p:txBody>
          <a:bodyPr wrap="square">
            <a:spAutoFit/>
          </a:bodyPr>
          <a:lstStyle/>
          <a:p>
            <a:pPr algn="ctr"/>
            <a:r>
              <a:rPr lang="en-IN" sz="3600"/>
              <a:t>👥</a:t>
            </a:r>
          </a:p>
        </p:txBody>
      </p:sp>
      <p:sp>
        <p:nvSpPr>
          <p:cNvPr id="33" name="Rectangle 32"/>
          <p:cNvSpPr/>
          <p:nvPr/>
        </p:nvSpPr>
        <p:spPr>
          <a:xfrm>
            <a:off x="4846638" y="3571819"/>
            <a:ext cx="1282700" cy="2246769"/>
          </a:xfrm>
          <a:prstGeom prst="rect">
            <a:avLst/>
          </a:prstGeom>
        </p:spPr>
        <p:txBody>
          <a:bodyPr wrap="square">
            <a:spAutoFit/>
          </a:bodyPr>
          <a:lstStyle/>
          <a:p>
            <a:r>
              <a:rPr lang="en-US" sz="2000">
                <a:solidFill>
                  <a:schemeClr val="bg1"/>
                </a:solidFill>
                <a:latin typeface="Lucida Bright" panose="02040602050505020304" pitchFamily="18" charset="0"/>
                <a:ea typeface="Tahoma" panose="020B0604030504040204" pitchFamily="34" charset="0"/>
                <a:cs typeface="Tahoma" panose="020B0604030504040204" pitchFamily="34" charset="0"/>
              </a:rPr>
              <a:t>Requires more man power and resources </a:t>
            </a:r>
            <a:endParaRPr lang="en-IN" sz="2000">
              <a:solidFill>
                <a:schemeClr val="bg1"/>
              </a:solidFill>
              <a:latin typeface="Lucida Bright" panose="02040602050505020304" pitchFamily="18" charset="0"/>
              <a:ea typeface="Tahoma" panose="020B0604030504040204" pitchFamily="34" charset="0"/>
              <a:cs typeface="Tahoma" panose="020B0604030504040204" pitchFamily="34" charset="0"/>
            </a:endParaRPr>
          </a:p>
        </p:txBody>
      </p:sp>
      <p:sp>
        <p:nvSpPr>
          <p:cNvPr id="36" name="Rectangle 35"/>
          <p:cNvSpPr/>
          <p:nvPr/>
        </p:nvSpPr>
        <p:spPr>
          <a:xfrm>
            <a:off x="6654800" y="3041721"/>
            <a:ext cx="774700" cy="584775"/>
          </a:xfrm>
          <a:prstGeom prst="rect">
            <a:avLst/>
          </a:prstGeom>
        </p:spPr>
        <p:txBody>
          <a:bodyPr wrap="square">
            <a:spAutoFit/>
          </a:bodyPr>
          <a:lstStyle/>
          <a:p>
            <a:pPr algn="ctr"/>
            <a:r>
              <a:rPr lang="en-IN" sz="3200" b="1">
                <a:latin typeface="Google Sans"/>
              </a:rPr>
              <a:t>👀</a:t>
            </a:r>
            <a:endParaRPr lang="en-IN" sz="3200"/>
          </a:p>
        </p:txBody>
      </p:sp>
      <p:sp>
        <p:nvSpPr>
          <p:cNvPr id="37" name="Rectangle 36"/>
          <p:cNvSpPr/>
          <p:nvPr/>
        </p:nvSpPr>
        <p:spPr>
          <a:xfrm>
            <a:off x="6465888" y="3710318"/>
            <a:ext cx="1262062" cy="1631216"/>
          </a:xfrm>
          <a:prstGeom prst="rect">
            <a:avLst/>
          </a:prstGeom>
        </p:spPr>
        <p:txBody>
          <a:bodyPr wrap="square">
            <a:spAutoFit/>
          </a:bodyPr>
          <a:lstStyle/>
          <a:p>
            <a:r>
              <a:rPr lang="en-US" sz="2000">
                <a:solidFill>
                  <a:schemeClr val="bg1"/>
                </a:solidFill>
                <a:latin typeface="Lucida Bright" panose="02040602050505020304" pitchFamily="18" charset="0"/>
                <a:ea typeface="Tahoma" panose="020B0604030504040204" pitchFamily="34" charset="0"/>
                <a:cs typeface="Tahoma" panose="020B0604030504040204" pitchFamily="34" charset="0"/>
              </a:rPr>
              <a:t>Lack of transparency in some cases </a:t>
            </a:r>
            <a:endParaRPr lang="en-IN" sz="2000">
              <a:solidFill>
                <a:schemeClr val="bg1"/>
              </a:solidFill>
              <a:latin typeface="Lucida Bright" panose="02040602050505020304" pitchFamily="18" charset="0"/>
              <a:ea typeface="Tahoma" panose="020B0604030504040204" pitchFamily="34" charset="0"/>
              <a:cs typeface="Tahoma" panose="020B0604030504040204" pitchFamily="34" charset="0"/>
            </a:endParaRPr>
          </a:p>
        </p:txBody>
      </p:sp>
      <p:sp>
        <p:nvSpPr>
          <p:cNvPr id="38" name="Rectangle 37"/>
          <p:cNvSpPr/>
          <p:nvPr/>
        </p:nvSpPr>
        <p:spPr>
          <a:xfrm flipH="1">
            <a:off x="8410574" y="3441700"/>
            <a:ext cx="923924" cy="381000"/>
          </a:xfrm>
          <a:prstGeom prst="rect">
            <a:avLst/>
          </a:prstGeom>
        </p:spPr>
        <p:txBody>
          <a:bodyPr wrap="square">
            <a:spAutoFit/>
          </a:bodyPr>
          <a:lstStyle/>
          <a:p>
            <a:endParaRPr lang="en-IN"/>
          </a:p>
        </p:txBody>
      </p:sp>
      <p:sp>
        <p:nvSpPr>
          <p:cNvPr id="39" name="Rectangle 38"/>
          <p:cNvSpPr/>
          <p:nvPr/>
        </p:nvSpPr>
        <p:spPr>
          <a:xfrm flipH="1">
            <a:off x="8375649" y="3147452"/>
            <a:ext cx="844551" cy="646331"/>
          </a:xfrm>
          <a:prstGeom prst="rect">
            <a:avLst/>
          </a:prstGeom>
        </p:spPr>
        <p:txBody>
          <a:bodyPr wrap="square">
            <a:spAutoFit/>
          </a:bodyPr>
          <a:lstStyle/>
          <a:p>
            <a:r>
              <a:rPr lang="en-IN" sz="3600" b="1">
                <a:solidFill>
                  <a:srgbClr val="FFC000"/>
                </a:solidFill>
                <a:latin typeface="Google Sans"/>
              </a:rPr>
              <a:t> ⚠</a:t>
            </a:r>
            <a:endParaRPr lang="en-IN" sz="3600">
              <a:solidFill>
                <a:srgbClr val="FFC000"/>
              </a:solidFill>
            </a:endParaRPr>
          </a:p>
        </p:txBody>
      </p:sp>
      <p:sp>
        <p:nvSpPr>
          <p:cNvPr id="42" name="Rectangle 41"/>
          <p:cNvSpPr/>
          <p:nvPr/>
        </p:nvSpPr>
        <p:spPr>
          <a:xfrm>
            <a:off x="8215313" y="3812602"/>
            <a:ext cx="1341437" cy="1477328"/>
          </a:xfrm>
          <a:prstGeom prst="rect">
            <a:avLst/>
          </a:prstGeom>
        </p:spPr>
        <p:txBody>
          <a:bodyPr wrap="square">
            <a:spAutoFit/>
          </a:bodyPr>
          <a:lstStyle/>
          <a:p>
            <a:r>
              <a:rPr lang="en-US">
                <a:solidFill>
                  <a:schemeClr val="bg1"/>
                </a:solidFill>
                <a:latin typeface="Lucida Bright" panose="02040602050505020304" pitchFamily="18" charset="0"/>
              </a:rPr>
              <a:t>Chances of human errors in counting votes </a:t>
            </a:r>
          </a:p>
        </p:txBody>
      </p:sp>
      <p:sp>
        <p:nvSpPr>
          <p:cNvPr id="21" name="Half Frame 20">
            <a:extLst>
              <a:ext uri="{FF2B5EF4-FFF2-40B4-BE49-F238E27FC236}">
                <a16:creationId xmlns:a16="http://schemas.microsoft.com/office/drawing/2014/main" id="{540ABD0E-6E0F-DB27-6640-5E2035019514}"/>
              </a:ext>
            </a:extLst>
          </p:cNvPr>
          <p:cNvSpPr/>
          <p:nvPr/>
        </p:nvSpPr>
        <p:spPr>
          <a:xfrm rot="10800000">
            <a:off x="9652000" y="1079500"/>
            <a:ext cx="2070100" cy="819149"/>
          </a:xfrm>
          <a:prstGeom prst="halfFrame">
            <a:avLst>
              <a:gd name="adj1" fmla="val 32381"/>
              <a:gd name="adj2" fmla="val 30476"/>
            </a:avLst>
          </a:prstGeom>
          <a:gradFill>
            <a:gsLst>
              <a:gs pos="0">
                <a:schemeClr val="accent1">
                  <a:lumMod val="5000"/>
                  <a:lumOff val="95000"/>
                </a:schemeClr>
              </a:gs>
              <a:gs pos="74000">
                <a:srgbClr val="0A3746"/>
              </a:gs>
              <a:gs pos="83000">
                <a:srgbClr val="0D3A48"/>
              </a:gs>
              <a:gs pos="100000">
                <a:srgbClr val="1B4753"/>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2" name="Half Frame 21">
            <a:extLst>
              <a:ext uri="{FF2B5EF4-FFF2-40B4-BE49-F238E27FC236}">
                <a16:creationId xmlns:a16="http://schemas.microsoft.com/office/drawing/2014/main" id="{540ABD0E-6E0F-DB27-6640-5E2035019514}"/>
              </a:ext>
            </a:extLst>
          </p:cNvPr>
          <p:cNvSpPr/>
          <p:nvPr/>
        </p:nvSpPr>
        <p:spPr>
          <a:xfrm>
            <a:off x="584199" y="696038"/>
            <a:ext cx="2070100" cy="819149"/>
          </a:xfrm>
          <a:prstGeom prst="halfFrame">
            <a:avLst>
              <a:gd name="adj1" fmla="val 32381"/>
              <a:gd name="adj2" fmla="val 30476"/>
            </a:avLst>
          </a:prstGeom>
          <a:gradFill>
            <a:gsLst>
              <a:gs pos="0">
                <a:schemeClr val="accent1">
                  <a:lumMod val="5000"/>
                  <a:lumOff val="95000"/>
                </a:schemeClr>
              </a:gs>
              <a:gs pos="74000">
                <a:srgbClr val="0A3746"/>
              </a:gs>
              <a:gs pos="83000">
                <a:srgbClr val="0D3A48"/>
              </a:gs>
              <a:gs pos="100000">
                <a:srgbClr val="1B4753"/>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0410248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60000"/>
            <a:lumOff val="40000"/>
          </a:schemeClr>
        </a:solidFill>
        <a:effectLst/>
      </p:bgPr>
    </p:bg>
    <p:spTree>
      <p:nvGrpSpPr>
        <p:cNvPr id="1" name=""/>
        <p:cNvGrpSpPr/>
        <p:nvPr/>
      </p:nvGrpSpPr>
      <p:grpSpPr>
        <a:xfrm>
          <a:off x="0" y="0"/>
          <a:ext cx="0" cy="0"/>
          <a:chOff x="0" y="0"/>
          <a:chExt cx="0" cy="0"/>
        </a:xfrm>
      </p:grpSpPr>
      <p:grpSp>
        <p:nvGrpSpPr>
          <p:cNvPr id="7" name="Group 6"/>
          <p:cNvGrpSpPr/>
          <p:nvPr/>
        </p:nvGrpSpPr>
        <p:grpSpPr>
          <a:xfrm>
            <a:off x="9300609" y="0"/>
            <a:ext cx="2891391" cy="6858000"/>
            <a:chOff x="9300609" y="0"/>
            <a:chExt cx="2891391" cy="6858000"/>
          </a:xfrm>
        </p:grpSpPr>
        <p:sp>
          <p:nvSpPr>
            <p:cNvPr id="12" name="Rectangle 11"/>
            <p:cNvSpPr/>
            <p:nvPr/>
          </p:nvSpPr>
          <p:spPr>
            <a:xfrm>
              <a:off x="9300609" y="0"/>
              <a:ext cx="289139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7" name="TextBox 26"/>
            <p:cNvSpPr txBox="1"/>
            <p:nvPr/>
          </p:nvSpPr>
          <p:spPr>
            <a:xfrm>
              <a:off x="10100077" y="478045"/>
              <a:ext cx="1083640" cy="923330"/>
            </a:xfrm>
            <a:prstGeom prst="rect">
              <a:avLst/>
            </a:prstGeom>
            <a:noFill/>
          </p:spPr>
          <p:txBody>
            <a:bodyPr wrap="square" rtlCol="0">
              <a:spAutoFit/>
            </a:bodyPr>
            <a:lstStyle/>
            <a:p>
              <a:r>
                <a:rPr lang="en-US" sz="5400" dirty="0">
                  <a:solidFill>
                    <a:srgbClr val="0070C0"/>
                  </a:solidFill>
                  <a:latin typeface="Bodoni MT Black" panose="02070A03080606020203" pitchFamily="18" charset="0"/>
                </a:rPr>
                <a:t>04</a:t>
              </a:r>
              <a:endParaRPr lang="en-IN" sz="5400" dirty="0">
                <a:solidFill>
                  <a:srgbClr val="0070C0"/>
                </a:solidFill>
                <a:latin typeface="Bodoni MT Black" panose="02070A03080606020203" pitchFamily="18" charset="0"/>
              </a:endParaRPr>
            </a:p>
          </p:txBody>
        </p:sp>
        <p:sp>
          <p:nvSpPr>
            <p:cNvPr id="39" name="TextBox 38"/>
            <p:cNvSpPr txBox="1"/>
            <p:nvPr/>
          </p:nvSpPr>
          <p:spPr>
            <a:xfrm>
              <a:off x="9570886" y="2003974"/>
              <a:ext cx="2051085" cy="830997"/>
            </a:xfrm>
            <a:prstGeom prst="rect">
              <a:avLst/>
            </a:prstGeom>
            <a:noFill/>
          </p:spPr>
          <p:txBody>
            <a:bodyPr wrap="square" rtlCol="0">
              <a:spAutoFit/>
            </a:bodyPr>
            <a:lstStyle/>
            <a:p>
              <a:r>
                <a:rPr lang="en-IN" sz="2400">
                  <a:solidFill>
                    <a:srgbClr val="0070C0"/>
                  </a:solidFill>
                  <a:latin typeface="Artifakt Element Heavy" panose="020B0B03050000020004" pitchFamily="34" charset="0"/>
                  <a:ea typeface="Artifakt Element Heavy" panose="020B0B03050000020004" pitchFamily="34" charset="0"/>
                </a:rPr>
                <a:t>Enhanced security</a:t>
              </a:r>
            </a:p>
          </p:txBody>
        </p:sp>
        <p:sp>
          <p:nvSpPr>
            <p:cNvPr id="57" name="TextBox 56"/>
            <p:cNvSpPr txBox="1"/>
            <p:nvPr/>
          </p:nvSpPr>
          <p:spPr>
            <a:xfrm>
              <a:off x="9366176" y="3229653"/>
              <a:ext cx="2760255" cy="3416320"/>
            </a:xfrm>
            <a:prstGeom prst="rect">
              <a:avLst/>
            </a:prstGeom>
            <a:noFill/>
          </p:spPr>
          <p:txBody>
            <a:bodyPr wrap="square" rtlCol="0">
              <a:spAutoFit/>
            </a:bodyPr>
            <a:lstStyle/>
            <a:p>
              <a:r>
                <a:rPr lang="en-US">
                  <a:solidFill>
                    <a:srgbClr val="0070C0"/>
                  </a:solidFill>
                  <a:latin typeface="Candara" panose="020E0502030303020204" pitchFamily="34" charset="0"/>
                </a:rPr>
                <a:t>While some people worry that online systems are more susceptible to fraud, the reality is quite the opposite. Digital voting platforms are equipped with encryption technologies, voter authentication mechanisms, and audit trails that traditional voting systems lack. </a:t>
              </a:r>
              <a:endParaRPr lang="en-IN">
                <a:solidFill>
                  <a:srgbClr val="0070C0"/>
                </a:solidFill>
                <a:latin typeface="Candara" panose="020E0502030303020204" pitchFamily="34" charset="0"/>
              </a:endParaRPr>
            </a:p>
          </p:txBody>
        </p:sp>
      </p:grpSp>
      <p:grpSp>
        <p:nvGrpSpPr>
          <p:cNvPr id="3" name="Group 2"/>
          <p:cNvGrpSpPr/>
          <p:nvPr/>
        </p:nvGrpSpPr>
        <p:grpSpPr>
          <a:xfrm>
            <a:off x="2980641" y="0"/>
            <a:ext cx="3036211" cy="6858000"/>
            <a:chOff x="2980641" y="0"/>
            <a:chExt cx="3036211" cy="6858000"/>
          </a:xfrm>
        </p:grpSpPr>
        <p:sp>
          <p:nvSpPr>
            <p:cNvPr id="10" name="Rectangle 9"/>
            <p:cNvSpPr/>
            <p:nvPr/>
          </p:nvSpPr>
          <p:spPr>
            <a:xfrm>
              <a:off x="2980641" y="0"/>
              <a:ext cx="3036211" cy="6858000"/>
            </a:xfrm>
            <a:prstGeom prst="rect">
              <a:avLst/>
            </a:prstGeom>
            <a:solidFill>
              <a:srgbClr val="FFFF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006600"/>
                </a:solidFill>
                <a:latin typeface="Artifakt Element Heavy" panose="020B0B03050000020004" pitchFamily="34" charset="0"/>
                <a:ea typeface="Artifakt Element Heavy" panose="020B0B03050000020004" pitchFamily="34" charset="0"/>
              </a:endParaRPr>
            </a:p>
          </p:txBody>
        </p:sp>
        <p:sp>
          <p:nvSpPr>
            <p:cNvPr id="19" name="TextBox 18"/>
            <p:cNvSpPr txBox="1"/>
            <p:nvPr/>
          </p:nvSpPr>
          <p:spPr>
            <a:xfrm>
              <a:off x="3956926" y="478045"/>
              <a:ext cx="1083640" cy="923330"/>
            </a:xfrm>
            <a:prstGeom prst="rect">
              <a:avLst/>
            </a:prstGeom>
            <a:noFill/>
          </p:spPr>
          <p:txBody>
            <a:bodyPr wrap="square" rtlCol="0">
              <a:spAutoFit/>
            </a:bodyPr>
            <a:lstStyle/>
            <a:p>
              <a:r>
                <a:rPr lang="en-US" sz="5400" dirty="0">
                  <a:solidFill>
                    <a:srgbClr val="0070C0"/>
                  </a:solidFill>
                  <a:latin typeface="Bodoni MT Black" panose="02070A03080606020203" pitchFamily="18" charset="0"/>
                </a:rPr>
                <a:t>02</a:t>
              </a:r>
              <a:endParaRPr lang="en-IN" sz="5400" dirty="0">
                <a:solidFill>
                  <a:srgbClr val="0070C0"/>
                </a:solidFill>
                <a:latin typeface="Bodoni MT Black" panose="02070A03080606020203" pitchFamily="18" charset="0"/>
              </a:endParaRPr>
            </a:p>
          </p:txBody>
        </p:sp>
        <p:sp>
          <p:nvSpPr>
            <p:cNvPr id="37" name="TextBox 36"/>
            <p:cNvSpPr txBox="1"/>
            <p:nvPr/>
          </p:nvSpPr>
          <p:spPr>
            <a:xfrm>
              <a:off x="3104411" y="1820011"/>
              <a:ext cx="2411036" cy="1200329"/>
            </a:xfrm>
            <a:prstGeom prst="rect">
              <a:avLst/>
            </a:prstGeom>
            <a:noFill/>
          </p:spPr>
          <p:txBody>
            <a:bodyPr wrap="square" rtlCol="0">
              <a:spAutoFit/>
            </a:bodyPr>
            <a:lstStyle/>
            <a:p>
              <a:pPr algn="ctr"/>
              <a:r>
                <a:rPr lang="en-US" sz="2400" dirty="0">
                  <a:solidFill>
                    <a:srgbClr val="0070C0"/>
                  </a:solidFill>
                  <a:latin typeface="Artifakt Element Heavy" panose="020B0B03050000020004" pitchFamily="34" charset="0"/>
                  <a:ea typeface="Artifakt Element Heavy" panose="020B0B03050000020004" pitchFamily="34" charset="0"/>
                </a:rPr>
                <a:t>Transparency and accountability</a:t>
              </a:r>
              <a:endParaRPr lang="en-IN" sz="2400" dirty="0">
                <a:solidFill>
                  <a:srgbClr val="0070C0"/>
                </a:solidFill>
                <a:latin typeface="Artifakt Element Heavy" panose="020B0B03050000020004" pitchFamily="34" charset="0"/>
                <a:ea typeface="Artifakt Element Heavy" panose="020B0B03050000020004" pitchFamily="34" charset="0"/>
              </a:endParaRPr>
            </a:p>
          </p:txBody>
        </p:sp>
        <p:sp>
          <p:nvSpPr>
            <p:cNvPr id="58" name="TextBox 57"/>
            <p:cNvSpPr txBox="1"/>
            <p:nvPr/>
          </p:nvSpPr>
          <p:spPr>
            <a:xfrm>
              <a:off x="3033755" y="3136900"/>
              <a:ext cx="2978045" cy="3693319"/>
            </a:xfrm>
            <a:prstGeom prst="rect">
              <a:avLst/>
            </a:prstGeom>
            <a:noFill/>
          </p:spPr>
          <p:txBody>
            <a:bodyPr wrap="square" rtlCol="0">
              <a:spAutoFit/>
            </a:bodyPr>
            <a:lstStyle/>
            <a:p>
              <a:r>
                <a:rPr lang="en-US" dirty="0">
                  <a:solidFill>
                    <a:srgbClr val="0070C0"/>
                  </a:solidFill>
                  <a:latin typeface="Candara" panose="020E0502030303020204" pitchFamily="34" charset="0"/>
                </a:rPr>
                <a:t>In any election, transparency is key to building trust. Digital voting systems provide clear audit trails that track every step of the election process, from ballot submission to result tabulation. These records are stored securely and can be reviewed at any time, ensuring that the process is not only transparent but also accountable.</a:t>
              </a:r>
              <a:endParaRPr lang="en-IN" dirty="0">
                <a:solidFill>
                  <a:srgbClr val="0070C0"/>
                </a:solidFill>
                <a:latin typeface="Candara" panose="020E0502030303020204" pitchFamily="34" charset="0"/>
              </a:endParaRPr>
            </a:p>
          </p:txBody>
        </p:sp>
      </p:grpSp>
      <p:grpSp>
        <p:nvGrpSpPr>
          <p:cNvPr id="6" name="Group 5"/>
          <p:cNvGrpSpPr/>
          <p:nvPr/>
        </p:nvGrpSpPr>
        <p:grpSpPr>
          <a:xfrm>
            <a:off x="15154" y="0"/>
            <a:ext cx="9150316" cy="6858000"/>
            <a:chOff x="15154" y="0"/>
            <a:chExt cx="9150316" cy="6858000"/>
          </a:xfrm>
        </p:grpSpPr>
        <p:sp>
          <p:nvSpPr>
            <p:cNvPr id="11" name="Rectangle 10"/>
            <p:cNvSpPr/>
            <p:nvPr/>
          </p:nvSpPr>
          <p:spPr>
            <a:xfrm>
              <a:off x="6129259" y="0"/>
              <a:ext cx="3036211" cy="6858000"/>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endParaRPr lang="en-IN"/>
            </a:p>
          </p:txBody>
        </p:sp>
        <p:sp>
          <p:nvSpPr>
            <p:cNvPr id="26" name="TextBox 25"/>
            <p:cNvSpPr txBox="1"/>
            <p:nvPr/>
          </p:nvSpPr>
          <p:spPr>
            <a:xfrm>
              <a:off x="7114384" y="478045"/>
              <a:ext cx="1083640" cy="923330"/>
            </a:xfrm>
            <a:prstGeom prst="rect">
              <a:avLst/>
            </a:prstGeom>
            <a:noFill/>
          </p:spPr>
          <p:txBody>
            <a:bodyPr wrap="square" rtlCol="0">
              <a:spAutoFit/>
            </a:bodyPr>
            <a:lstStyle/>
            <a:p>
              <a:r>
                <a:rPr lang="en-US" sz="5400">
                  <a:solidFill>
                    <a:srgbClr val="0070C0"/>
                  </a:solidFill>
                  <a:latin typeface="Bodoni MT Black" panose="02070A03080606020203" pitchFamily="18" charset="0"/>
                </a:rPr>
                <a:t>03</a:t>
              </a:r>
              <a:endParaRPr lang="en-IN" sz="5400">
                <a:solidFill>
                  <a:srgbClr val="0070C0"/>
                </a:solidFill>
                <a:latin typeface="Bodoni MT Black" panose="02070A03080606020203" pitchFamily="18" charset="0"/>
              </a:endParaRPr>
            </a:p>
          </p:txBody>
        </p:sp>
        <p:sp>
          <p:nvSpPr>
            <p:cNvPr id="38" name="TextBox 37"/>
            <p:cNvSpPr txBox="1"/>
            <p:nvPr/>
          </p:nvSpPr>
          <p:spPr>
            <a:xfrm>
              <a:off x="6442234" y="1987370"/>
              <a:ext cx="2051085" cy="954107"/>
            </a:xfrm>
            <a:prstGeom prst="rect">
              <a:avLst/>
            </a:prstGeom>
            <a:noFill/>
          </p:spPr>
          <p:txBody>
            <a:bodyPr wrap="square" rtlCol="0">
              <a:spAutoFit/>
            </a:bodyPr>
            <a:lstStyle/>
            <a:p>
              <a:r>
                <a:rPr lang="en-US" sz="2800">
                  <a:solidFill>
                    <a:srgbClr val="0070C0"/>
                  </a:solidFill>
                  <a:latin typeface="Artifakt Element Heavy" panose="020B0B03050000020004" pitchFamily="34" charset="0"/>
                  <a:ea typeface="Artifakt Element Heavy" panose="020B0B03050000020004" pitchFamily="34" charset="0"/>
                </a:rPr>
                <a:t>Reduced costs</a:t>
              </a:r>
              <a:endParaRPr lang="en-IN" sz="2800">
                <a:solidFill>
                  <a:srgbClr val="0070C0"/>
                </a:solidFill>
                <a:latin typeface="Artifakt Element Heavy" panose="020B0B03050000020004" pitchFamily="34" charset="0"/>
                <a:ea typeface="Artifakt Element Heavy" panose="020B0B03050000020004" pitchFamily="34" charset="0"/>
              </a:endParaRPr>
            </a:p>
          </p:txBody>
        </p:sp>
        <p:sp>
          <p:nvSpPr>
            <p:cNvPr id="40" name="TextBox 39"/>
            <p:cNvSpPr txBox="1"/>
            <p:nvPr/>
          </p:nvSpPr>
          <p:spPr>
            <a:xfrm>
              <a:off x="6427321" y="4071859"/>
              <a:ext cx="2664473" cy="2354201"/>
            </a:xfrm>
            <a:prstGeom prst="rect">
              <a:avLst/>
            </a:prstGeom>
            <a:noFill/>
          </p:spPr>
          <p:txBody>
            <a:bodyPr wrap="square" rtlCol="0">
              <a:spAutoFit/>
            </a:bodyPr>
            <a:lstStyle/>
            <a:p>
              <a:endParaRPr lang="en-IN"/>
            </a:p>
          </p:txBody>
        </p:sp>
        <p:sp>
          <p:nvSpPr>
            <p:cNvPr id="56" name="Rectangle 55"/>
            <p:cNvSpPr/>
            <p:nvPr/>
          </p:nvSpPr>
          <p:spPr>
            <a:xfrm>
              <a:off x="6297861" y="3158533"/>
              <a:ext cx="2716679" cy="2862322"/>
            </a:xfrm>
            <a:prstGeom prst="rect">
              <a:avLst/>
            </a:prstGeom>
          </p:spPr>
          <p:txBody>
            <a:bodyPr wrap="square">
              <a:spAutoFit/>
            </a:bodyPr>
            <a:lstStyle/>
            <a:p>
              <a:r>
                <a:rPr lang="en-IN" dirty="0">
                  <a:solidFill>
                    <a:srgbClr val="0070C0"/>
                  </a:solidFill>
                  <a:latin typeface="Candara" panose="020E0502030303020204" pitchFamily="34" charset="0"/>
                </a:rPr>
                <a:t>Traditional voting methods often involve significant costs—think about printing ballots, hiring staff, renting polling stations, and ensuring proper security. Digital voting systems, on the other hand, cut down on these expenses.</a:t>
              </a:r>
            </a:p>
          </p:txBody>
        </p:sp>
        <p:grpSp>
          <p:nvGrpSpPr>
            <p:cNvPr id="5" name="Group 4"/>
            <p:cNvGrpSpPr/>
            <p:nvPr/>
          </p:nvGrpSpPr>
          <p:grpSpPr>
            <a:xfrm>
              <a:off x="15154" y="0"/>
              <a:ext cx="2818980" cy="6858000"/>
              <a:chOff x="15154" y="0"/>
              <a:chExt cx="2818980" cy="6858000"/>
            </a:xfrm>
          </p:grpSpPr>
          <p:sp>
            <p:nvSpPr>
              <p:cNvPr id="4" name="Rectangle 3"/>
              <p:cNvSpPr/>
              <p:nvPr/>
            </p:nvSpPr>
            <p:spPr>
              <a:xfrm>
                <a:off x="15154" y="0"/>
                <a:ext cx="2818980" cy="6858000"/>
              </a:xfrm>
              <a:prstGeom prst="rect">
                <a:avLst/>
              </a:prstGeom>
              <a:solidFill>
                <a:srgbClr val="CC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a:solidFill>
                    <a:srgbClr val="006600"/>
                  </a:solidFill>
                  <a:latin typeface="Bodoni MT Black" panose="02070A03080606020203" pitchFamily="18" charset="0"/>
                </a:endParaRPr>
              </a:p>
            </p:txBody>
          </p:sp>
          <p:grpSp>
            <p:nvGrpSpPr>
              <p:cNvPr id="2" name="Group 1"/>
              <p:cNvGrpSpPr/>
              <p:nvPr/>
            </p:nvGrpSpPr>
            <p:grpSpPr>
              <a:xfrm>
                <a:off x="50515" y="482705"/>
                <a:ext cx="2673635" cy="5576068"/>
                <a:chOff x="50515" y="482705"/>
                <a:chExt cx="2673635" cy="5576068"/>
              </a:xfrm>
            </p:grpSpPr>
            <p:sp>
              <p:nvSpPr>
                <p:cNvPr id="13" name="TextBox 12"/>
                <p:cNvSpPr txBox="1"/>
                <p:nvPr/>
              </p:nvSpPr>
              <p:spPr>
                <a:xfrm>
                  <a:off x="437062" y="482705"/>
                  <a:ext cx="1083640" cy="923330"/>
                </a:xfrm>
                <a:prstGeom prst="rect">
                  <a:avLst/>
                </a:prstGeom>
                <a:noFill/>
              </p:spPr>
              <p:txBody>
                <a:bodyPr wrap="square" rtlCol="0">
                  <a:spAutoFit/>
                </a:bodyPr>
                <a:lstStyle/>
                <a:p>
                  <a:r>
                    <a:rPr lang="en-US" sz="5400" dirty="0">
                      <a:solidFill>
                        <a:srgbClr val="0070C0"/>
                      </a:solidFill>
                      <a:latin typeface="Bodoni MT Black" panose="02070A03080606020203" pitchFamily="18" charset="0"/>
                    </a:rPr>
                    <a:t>01</a:t>
                  </a:r>
                  <a:endParaRPr lang="en-IN" sz="5400" dirty="0">
                    <a:solidFill>
                      <a:srgbClr val="0070C0"/>
                    </a:solidFill>
                    <a:latin typeface="Bodoni MT Black" panose="02070A03080606020203" pitchFamily="18" charset="0"/>
                  </a:endParaRPr>
                </a:p>
              </p:txBody>
            </p:sp>
            <p:sp>
              <p:nvSpPr>
                <p:cNvPr id="28" name="TextBox 27"/>
                <p:cNvSpPr txBox="1"/>
                <p:nvPr/>
              </p:nvSpPr>
              <p:spPr>
                <a:xfrm>
                  <a:off x="50515" y="1820010"/>
                  <a:ext cx="2561332" cy="1200329"/>
                </a:xfrm>
                <a:prstGeom prst="rect">
                  <a:avLst/>
                </a:prstGeom>
                <a:noFill/>
              </p:spPr>
              <p:txBody>
                <a:bodyPr wrap="square" rtlCol="0" anchor="b">
                  <a:spAutoFit/>
                </a:bodyPr>
                <a:lstStyle/>
                <a:p>
                  <a:r>
                    <a:rPr lang="en-US" sz="2400" dirty="0">
                      <a:solidFill>
                        <a:srgbClr val="0070C0"/>
                      </a:solidFill>
                      <a:latin typeface="Artifakt Element Heavy" panose="020B0B03050000020004" pitchFamily="34" charset="0"/>
                      <a:ea typeface="Artifakt Element Heavy" panose="020B0B03050000020004" pitchFamily="34" charset="0"/>
                    </a:rPr>
                    <a:t>Faster vote casting and counting</a:t>
                  </a:r>
                  <a:endParaRPr lang="en-IN" sz="2400" dirty="0">
                    <a:solidFill>
                      <a:srgbClr val="0070C0"/>
                    </a:solidFill>
                    <a:latin typeface="Artifakt Element Heavy" panose="020B0B03050000020004" pitchFamily="34" charset="0"/>
                    <a:ea typeface="Artifakt Element Heavy" panose="020B0B03050000020004" pitchFamily="34" charset="0"/>
                  </a:endParaRPr>
                </a:p>
              </p:txBody>
            </p:sp>
            <p:sp>
              <p:nvSpPr>
                <p:cNvPr id="59" name="TextBox 58"/>
                <p:cNvSpPr txBox="1"/>
                <p:nvPr/>
              </p:nvSpPr>
              <p:spPr>
                <a:xfrm>
                  <a:off x="120650" y="3473450"/>
                  <a:ext cx="2603500" cy="2585323"/>
                </a:xfrm>
                <a:prstGeom prst="rect">
                  <a:avLst/>
                </a:prstGeom>
                <a:noFill/>
              </p:spPr>
              <p:txBody>
                <a:bodyPr wrap="square" rtlCol="0">
                  <a:spAutoFit/>
                </a:bodyPr>
                <a:lstStyle/>
                <a:p>
                  <a:r>
                    <a:rPr lang="en-US">
                      <a:solidFill>
                        <a:srgbClr val="0070C0"/>
                      </a:solidFill>
                      <a:latin typeface="Candara" panose="020E0502030303020204" pitchFamily="34" charset="0"/>
                    </a:rPr>
                    <a:t>The process of voting and calculating results quick, easy, and efficient. Using methods like electronic machines or online systems so people can vote quickly without long waiting times.</a:t>
                  </a:r>
                  <a:endParaRPr lang="en-IN">
                    <a:solidFill>
                      <a:srgbClr val="0070C0"/>
                    </a:solidFill>
                    <a:latin typeface="Candara" panose="020E0502030303020204" pitchFamily="34" charset="0"/>
                  </a:endParaRPr>
                </a:p>
              </p:txBody>
            </p:sp>
          </p:grpSp>
        </p:grpSp>
      </p:grpSp>
    </p:spTree>
    <p:extLst>
      <p:ext uri="{BB962C8B-B14F-4D97-AF65-F5344CB8AC3E}">
        <p14:creationId xmlns:p14="http://schemas.microsoft.com/office/powerpoint/2010/main" val="386079660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95548" y="2353374"/>
            <a:ext cx="832585" cy="1323439"/>
          </a:xfrm>
          <a:prstGeom prst="rect">
            <a:avLst/>
          </a:prstGeom>
          <a:noFill/>
        </p:spPr>
        <p:txBody>
          <a:bodyPr wrap="square" rtlCol="0">
            <a:spAutoFit/>
          </a:bodyPr>
          <a:lstStyle/>
          <a:p>
            <a:r>
              <a:rPr lang="en-US" sz="8000" dirty="0">
                <a:latin typeface="Arial Black" panose="020B0A04020102020204" pitchFamily="34" charset="0"/>
              </a:rPr>
              <a:t>T</a:t>
            </a:r>
            <a:endParaRPr lang="en-IN" sz="8000" dirty="0">
              <a:latin typeface="Arial Black" panose="020B0A04020102020204" pitchFamily="34" charset="0"/>
            </a:endParaRPr>
          </a:p>
        </p:txBody>
      </p:sp>
      <p:sp>
        <p:nvSpPr>
          <p:cNvPr id="3" name="TextBox 2"/>
          <p:cNvSpPr txBox="1"/>
          <p:nvPr/>
        </p:nvSpPr>
        <p:spPr>
          <a:xfrm>
            <a:off x="3373855" y="2353375"/>
            <a:ext cx="832585" cy="1323439"/>
          </a:xfrm>
          <a:prstGeom prst="rect">
            <a:avLst/>
          </a:prstGeom>
          <a:noFill/>
        </p:spPr>
        <p:txBody>
          <a:bodyPr wrap="square" rtlCol="0">
            <a:spAutoFit/>
          </a:bodyPr>
          <a:lstStyle/>
          <a:p>
            <a:r>
              <a:rPr lang="en-US" sz="8000" dirty="0">
                <a:latin typeface="Arial Black" panose="020B0A04020102020204" pitchFamily="34" charset="0"/>
              </a:rPr>
              <a:t>H</a:t>
            </a:r>
            <a:endParaRPr lang="en-IN" sz="8000" dirty="0">
              <a:latin typeface="Arial Black" panose="020B0A04020102020204" pitchFamily="34" charset="0"/>
            </a:endParaRPr>
          </a:p>
        </p:txBody>
      </p:sp>
      <p:sp>
        <p:nvSpPr>
          <p:cNvPr id="4" name="TextBox 3"/>
          <p:cNvSpPr txBox="1"/>
          <p:nvPr/>
        </p:nvSpPr>
        <p:spPr>
          <a:xfrm>
            <a:off x="4325755" y="2353376"/>
            <a:ext cx="832585" cy="1323439"/>
          </a:xfrm>
          <a:prstGeom prst="rect">
            <a:avLst/>
          </a:prstGeom>
          <a:noFill/>
        </p:spPr>
        <p:txBody>
          <a:bodyPr wrap="square" rtlCol="0">
            <a:spAutoFit/>
          </a:bodyPr>
          <a:lstStyle/>
          <a:p>
            <a:r>
              <a:rPr lang="en-US" sz="8000" dirty="0">
                <a:latin typeface="Arial Black" panose="020B0A04020102020204" pitchFamily="34" charset="0"/>
              </a:rPr>
              <a:t>A</a:t>
            </a:r>
            <a:endParaRPr lang="en-IN" sz="8000" dirty="0">
              <a:latin typeface="Arial Black" panose="020B0A04020102020204" pitchFamily="34" charset="0"/>
            </a:endParaRPr>
          </a:p>
        </p:txBody>
      </p:sp>
      <p:sp>
        <p:nvSpPr>
          <p:cNvPr id="5" name="TextBox 4"/>
          <p:cNvSpPr txBox="1"/>
          <p:nvPr/>
        </p:nvSpPr>
        <p:spPr>
          <a:xfrm>
            <a:off x="5332397" y="2353375"/>
            <a:ext cx="832585" cy="1323439"/>
          </a:xfrm>
          <a:prstGeom prst="rect">
            <a:avLst/>
          </a:prstGeom>
          <a:noFill/>
        </p:spPr>
        <p:txBody>
          <a:bodyPr wrap="square" rtlCol="0">
            <a:spAutoFit/>
          </a:bodyPr>
          <a:lstStyle/>
          <a:p>
            <a:r>
              <a:rPr lang="en-US" sz="8000" dirty="0">
                <a:latin typeface="Arial Black" panose="020B0A04020102020204" pitchFamily="34" charset="0"/>
              </a:rPr>
              <a:t>N</a:t>
            </a:r>
            <a:endParaRPr lang="en-IN" sz="8000" dirty="0">
              <a:latin typeface="Arial Black" panose="020B0A04020102020204" pitchFamily="34" charset="0"/>
            </a:endParaRPr>
          </a:p>
        </p:txBody>
      </p:sp>
      <p:sp>
        <p:nvSpPr>
          <p:cNvPr id="6" name="TextBox 5"/>
          <p:cNvSpPr txBox="1"/>
          <p:nvPr/>
        </p:nvSpPr>
        <p:spPr>
          <a:xfrm>
            <a:off x="6290913" y="2353375"/>
            <a:ext cx="832585" cy="1323439"/>
          </a:xfrm>
          <a:prstGeom prst="rect">
            <a:avLst/>
          </a:prstGeom>
          <a:noFill/>
        </p:spPr>
        <p:txBody>
          <a:bodyPr wrap="square" rtlCol="0">
            <a:spAutoFit/>
          </a:bodyPr>
          <a:lstStyle/>
          <a:p>
            <a:r>
              <a:rPr lang="en-US" sz="8000" dirty="0">
                <a:latin typeface="Arial Black" panose="020B0A04020102020204" pitchFamily="34" charset="0"/>
              </a:rPr>
              <a:t>K</a:t>
            </a:r>
            <a:endParaRPr lang="en-IN" sz="8000" dirty="0">
              <a:latin typeface="Arial Black" panose="020B0A04020102020204" pitchFamily="34" charset="0"/>
            </a:endParaRPr>
          </a:p>
        </p:txBody>
      </p:sp>
      <p:sp>
        <p:nvSpPr>
          <p:cNvPr id="7" name="TextBox 6"/>
          <p:cNvSpPr txBox="1"/>
          <p:nvPr/>
        </p:nvSpPr>
        <p:spPr>
          <a:xfrm>
            <a:off x="4625743" y="3219649"/>
            <a:ext cx="832585" cy="1323439"/>
          </a:xfrm>
          <a:prstGeom prst="rect">
            <a:avLst/>
          </a:prstGeom>
          <a:noFill/>
        </p:spPr>
        <p:txBody>
          <a:bodyPr wrap="square" rtlCol="0">
            <a:spAutoFit/>
          </a:bodyPr>
          <a:lstStyle/>
          <a:p>
            <a:r>
              <a:rPr lang="en-US" sz="8000" dirty="0">
                <a:latin typeface="Arial Black" panose="020B0A04020102020204" pitchFamily="34" charset="0"/>
              </a:rPr>
              <a:t>Y</a:t>
            </a:r>
            <a:endParaRPr lang="en-IN" sz="8000" dirty="0">
              <a:latin typeface="Arial Black" panose="020B0A04020102020204" pitchFamily="34" charset="0"/>
            </a:endParaRPr>
          </a:p>
        </p:txBody>
      </p:sp>
      <p:sp>
        <p:nvSpPr>
          <p:cNvPr id="8" name="TextBox 7"/>
          <p:cNvSpPr txBox="1"/>
          <p:nvPr/>
        </p:nvSpPr>
        <p:spPr>
          <a:xfrm>
            <a:off x="5423840" y="3224425"/>
            <a:ext cx="832585" cy="1323439"/>
          </a:xfrm>
          <a:prstGeom prst="rect">
            <a:avLst/>
          </a:prstGeom>
          <a:noFill/>
        </p:spPr>
        <p:txBody>
          <a:bodyPr wrap="square" rtlCol="0">
            <a:spAutoFit/>
          </a:bodyPr>
          <a:lstStyle/>
          <a:p>
            <a:r>
              <a:rPr lang="en-US" sz="8000" dirty="0">
                <a:latin typeface="Arial Black" panose="020B0A04020102020204" pitchFamily="34" charset="0"/>
              </a:rPr>
              <a:t>O</a:t>
            </a:r>
            <a:endParaRPr lang="en-IN" sz="8000" dirty="0">
              <a:latin typeface="Arial Black" panose="020B0A04020102020204" pitchFamily="34" charset="0"/>
            </a:endParaRPr>
          </a:p>
        </p:txBody>
      </p:sp>
      <p:sp>
        <p:nvSpPr>
          <p:cNvPr id="9" name="TextBox 8"/>
          <p:cNvSpPr txBox="1"/>
          <p:nvPr/>
        </p:nvSpPr>
        <p:spPr>
          <a:xfrm>
            <a:off x="6382356" y="3219649"/>
            <a:ext cx="832585" cy="1323439"/>
          </a:xfrm>
          <a:prstGeom prst="rect">
            <a:avLst/>
          </a:prstGeom>
          <a:noFill/>
        </p:spPr>
        <p:txBody>
          <a:bodyPr wrap="square" rtlCol="0">
            <a:spAutoFit/>
          </a:bodyPr>
          <a:lstStyle/>
          <a:p>
            <a:r>
              <a:rPr lang="en-US" sz="8000" dirty="0">
                <a:latin typeface="Arial Black" panose="020B0A04020102020204" pitchFamily="34" charset="0"/>
              </a:rPr>
              <a:t>U</a:t>
            </a:r>
            <a:endParaRPr lang="en-IN" sz="8000" dirty="0">
              <a:latin typeface="Arial Black" panose="020B0A04020102020204" pitchFamily="34" charset="0"/>
            </a:endParaRPr>
          </a:p>
        </p:txBody>
      </p:sp>
      <p:grpSp>
        <p:nvGrpSpPr>
          <p:cNvPr id="12" name="Group 11"/>
          <p:cNvGrpSpPr/>
          <p:nvPr/>
        </p:nvGrpSpPr>
        <p:grpSpPr>
          <a:xfrm>
            <a:off x="7474592" y="2485938"/>
            <a:ext cx="5097178" cy="1992431"/>
            <a:chOff x="7762781" y="2353375"/>
            <a:chExt cx="4429219" cy="1992431"/>
          </a:xfrm>
        </p:grpSpPr>
        <p:sp>
          <p:nvSpPr>
            <p:cNvPr id="11" name="Rectangle 10"/>
            <p:cNvSpPr/>
            <p:nvPr/>
          </p:nvSpPr>
          <p:spPr>
            <a:xfrm>
              <a:off x="7839777" y="2353375"/>
              <a:ext cx="4352223" cy="1992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p:nvSpPr>
          <p:spPr>
            <a:xfrm>
              <a:off x="7762781" y="2353375"/>
              <a:ext cx="134748" cy="199243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4" name="Freeform 13"/>
          <p:cNvSpPr/>
          <p:nvPr/>
        </p:nvSpPr>
        <p:spPr>
          <a:xfrm>
            <a:off x="8522990" y="5481510"/>
            <a:ext cx="0" cy="0"/>
          </a:xfrm>
          <a:custGeom>
            <a:avLst/>
            <a:gdLst>
              <a:gd name="connsiteX0" fmla="*/ 0 w 0"/>
              <a:gd name="connsiteY0" fmla="*/ 0 h 0"/>
              <a:gd name="connsiteX1" fmla="*/ 0 w 0"/>
              <a:gd name="connsiteY1" fmla="*/ 0 h 0"/>
            </a:gdLst>
            <a:ahLst/>
            <a:cxnLst>
              <a:cxn ang="0">
                <a:pos x="connsiteX0" y="connsiteY0"/>
              </a:cxn>
              <a:cxn ang="0">
                <a:pos x="connsiteX1" y="connsiteY1"/>
              </a:cxn>
            </a:cxnLst>
            <a:rect l="l" t="t" r="r" b="b"/>
            <a:pathLst>
              <a:path>
                <a:moveTo>
                  <a:pt x="0" y="0"/>
                </a:moveTo>
                <a:lnTo>
                  <a:pt x="0"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1465035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5</Slides>
  <Notes>0</Notes>
  <HiddenSlides>0</HiddenSlide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VOTING  SYSTEM  SIMULATOR</dc:title>
  <dc:creator>Kumar akhil Siddheawara rao</dc:creator>
  <cp:lastModifiedBy>Santhosh Id</cp:lastModifiedBy>
  <cp:revision>2</cp:revision>
  <dcterms:created xsi:type="dcterms:W3CDTF">2026-03-21T12:15:43Z</dcterms:created>
  <dcterms:modified xsi:type="dcterms:W3CDTF">2026-04-02T02:22:24Z</dcterms:modified>
</cp:coreProperties>
</file>